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78" r:id="rId3"/>
    <p:sldId id="264" r:id="rId5"/>
    <p:sldId id="281" r:id="rId6"/>
    <p:sldId id="307" r:id="rId7"/>
    <p:sldId id="320" r:id="rId8"/>
    <p:sldId id="321" r:id="rId9"/>
    <p:sldId id="319" r:id="rId10"/>
    <p:sldId id="282" r:id="rId11"/>
    <p:sldId id="322" r:id="rId12"/>
    <p:sldId id="323" r:id="rId13"/>
    <p:sldId id="296" r:id="rId14"/>
    <p:sldId id="304" r:id="rId15"/>
    <p:sldId id="305" r:id="rId16"/>
    <p:sldId id="298" r:id="rId17"/>
    <p:sldId id="303" r:id="rId18"/>
    <p:sldId id="325" r:id="rId19"/>
    <p:sldId id="309" r:id="rId20"/>
    <p:sldId id="299" r:id="rId21"/>
    <p:sldId id="310" r:id="rId22"/>
    <p:sldId id="312" r:id="rId23"/>
    <p:sldId id="300" r:id="rId24"/>
    <p:sldId id="324" r:id="rId25"/>
    <p:sldId id="313" r:id="rId26"/>
    <p:sldId id="262" r:id="rId27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DFE"/>
    <a:srgbClr val="D4E8FB"/>
    <a:srgbClr val="DBECFD"/>
    <a:srgbClr val="11D05C"/>
    <a:srgbClr val="171A16"/>
    <a:srgbClr val="161A16"/>
    <a:srgbClr val="303030"/>
    <a:srgbClr val="F3F1F6"/>
    <a:srgbClr val="00B050"/>
    <a:srgbClr val="4ED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62" autoAdjust="0"/>
    <p:restoredTop sz="86549"/>
  </p:normalViewPr>
  <p:slideViewPr>
    <p:cSldViewPr snapToGrid="0">
      <p:cViewPr varScale="1">
        <p:scale>
          <a:sx n="106" d="100"/>
          <a:sy n="106" d="100"/>
        </p:scale>
        <p:origin x="368" y="176"/>
      </p:cViewPr>
      <p:guideLst/>
    </p:cSldViewPr>
  </p:slideViewPr>
  <p:outlineViewPr>
    <p:cViewPr>
      <p:scale>
        <a:sx n="33" d="100"/>
        <a:sy n="33" d="100"/>
      </p:scale>
      <p:origin x="-1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9" d="100"/>
        <a:sy n="99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0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1746E-2635-B94E-BC78-E8F5EF0D78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8BD94-E079-A44D-81B6-C4F318B39CD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补充</a:t>
            </a:r>
            <a:r>
              <a:rPr lang="en-US" altLang="zh-CN"/>
              <a:t> https://daocloud.feishu.cn/docx/J7IRdWaLbonL0cx7G0VcayHpnLb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13530" y="1611627"/>
            <a:ext cx="8005814" cy="161610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4000" b="1" dirty="0"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pPr lvl="0" defTabSz="914400"/>
            <a:r>
              <a:rPr lang="zh-CN" altLang="en-US" dirty="0"/>
              <a:t>主标题 </a:t>
            </a:r>
            <a:r>
              <a:rPr lang="en-US" altLang="zh-CN" dirty="0"/>
              <a:t>Click to edit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13530" y="3429000"/>
            <a:ext cx="7882709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lang="zh-CN" altLang="en-US" sz="2000"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pPr marL="228600" lvl="0" indent="-228600" defTabSz="914400"/>
            <a:r>
              <a:rPr lang="zh-CN" altLang="en-US" dirty="0"/>
              <a:t>副标题 </a:t>
            </a:r>
            <a:r>
              <a:rPr lang="en-US" altLang="zh-CN" dirty="0"/>
              <a:t>Click to edit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231900"/>
            <a:ext cx="10858500" cy="5003800"/>
          </a:xfrm>
        </p:spPr>
        <p:txBody>
          <a:bodyPr/>
          <a:lstStyle/>
          <a:p>
            <a:pPr lvl="0"/>
            <a:r>
              <a:rPr lang="zh-CN" altLang="en-US" dirty="0"/>
              <a:t>一级段落内容 </a:t>
            </a:r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zh-CN" altLang="en-US" dirty="0"/>
              <a:t>二级段落内容 </a:t>
            </a:r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zh-CN" altLang="en-US" dirty="0"/>
              <a:t>三级段落内容 </a:t>
            </a:r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zh-CN" altLang="en-US" dirty="0"/>
              <a:t>四级段落内容 </a:t>
            </a:r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zh-CN" altLang="en-US" dirty="0"/>
              <a:t>五级段落内容 </a:t>
            </a:r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86" y="314042"/>
            <a:ext cx="1144673" cy="11212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42594" y="2138526"/>
            <a:ext cx="5398007" cy="12904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3600"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pPr lvl="0" defTabSz="914400"/>
            <a:r>
              <a:rPr lang="zh-CN" altLang="en-US" dirty="0"/>
              <a:t>章节标题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342594" y="3563471"/>
            <a:ext cx="5398007" cy="505084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章节副标题 </a:t>
            </a:r>
            <a:r>
              <a:rPr lang="en-US" altLang="zh-CN" dirty="0"/>
              <a:t>Click to edit Master text styles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86" y="314042"/>
            <a:ext cx="1144673" cy="11212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86" y="314042"/>
            <a:ext cx="1144673" cy="11212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925117" y="2537799"/>
            <a:ext cx="9110133" cy="109665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6000" b="1" smtClean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 dirty="0"/>
              <a:t>Thanks.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3000">
              <a:srgbClr val="E1F6F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400"/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一级段落内容 </a:t>
            </a:r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zh-CN" altLang="en-US" dirty="0"/>
              <a:t>二级段落内容  </a:t>
            </a:r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zh-CN" altLang="en-US" dirty="0"/>
              <a:t>三级段落内容  </a:t>
            </a:r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zh-CN" altLang="en-US" dirty="0"/>
              <a:t>四级段落内容  </a:t>
            </a:r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zh-CN" altLang="en-US" dirty="0"/>
              <a:t>五级段落内容  </a:t>
            </a:r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BAC152-C384-4126-A41C-02F34DED3069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bg1">
              <a:lumMod val="95000"/>
              <a:lumOff val="5000"/>
            </a:schemeClr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bg1">
              <a:lumMod val="95000"/>
              <a:lumOff val="5000"/>
            </a:schemeClr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bg1">
              <a:lumMod val="95000"/>
              <a:lumOff val="5000"/>
            </a:schemeClr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>
              <a:lumMod val="95000"/>
              <a:lumOff val="5000"/>
            </a:schemeClr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>
              <a:lumMod val="95000"/>
              <a:lumOff val="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3530" y="1611627"/>
            <a:ext cx="9399900" cy="1616101"/>
          </a:xfrm>
        </p:spPr>
        <p:txBody>
          <a:bodyPr/>
          <a:lstStyle/>
          <a:p>
            <a:r>
              <a:rPr kumimoji="1" lang="zh-CN" altLang="en-US" dirty="0"/>
              <a:t>从开源到</a:t>
            </a:r>
            <a:r>
              <a:rPr kumimoji="1" lang="zh-CN" altLang="en-US" dirty="0"/>
              <a:t>商业化</a:t>
            </a:r>
            <a:br>
              <a:rPr kumimoji="1" lang="zh-CN" altLang="en-US" dirty="0"/>
            </a:br>
            <a:r>
              <a:rPr kumimoji="1" lang="zh-CN" altLang="en-US" dirty="0"/>
              <a:t>云原生架构下大模型的大规模推理产品化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samzong（</a:t>
            </a:r>
            <a:r>
              <a:rPr kumimoji="1" dirty="0"/>
              <a:t>船长</a:t>
            </a:r>
            <a:r>
              <a:rPr kumimoji="1" lang="en-US" altLang="zh-CN" dirty="0"/>
              <a:t>）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35131" y="2965996"/>
            <a:ext cx="2998815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sp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目录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57800" y="1617345"/>
            <a:ext cx="2704465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l"/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业务背景和</a:t>
            </a:r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挑战</a:t>
            </a:r>
            <a:endParaRPr lang="zh-CN" altLang="en-US" sz="2000" b="1" dirty="0"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82025" y="1244069"/>
            <a:ext cx="1015178" cy="830999"/>
          </a:xfrm>
          <a:prstGeom prst="rect">
            <a:avLst/>
          </a:prstGeom>
          <a:noFill/>
          <a:effectLst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>
              <a:buSzPct val="25000"/>
            </a:pPr>
            <a:r>
              <a:rPr lang="en-US" altLang="zh-CN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cs typeface="+mn-ea"/>
                <a:sym typeface="+mn-lt"/>
              </a:rPr>
              <a:t>01</a:t>
            </a:r>
            <a:endParaRPr lang="en-US" altLang="zh-CN" sz="4800" dirty="0">
              <a:solidFill>
                <a:schemeClr val="bg1">
                  <a:lumMod val="95000"/>
                  <a:lumOff val="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257800" y="3516630"/>
            <a:ext cx="2703830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l"/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开源技术的</a:t>
            </a:r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力量</a:t>
            </a:r>
            <a:endParaRPr lang="zh-CN" altLang="en-US" sz="2000" b="1" dirty="0"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382023" y="3161572"/>
            <a:ext cx="1015175" cy="830999"/>
          </a:xfrm>
          <a:prstGeom prst="rect">
            <a:avLst/>
          </a:prstGeom>
          <a:noFill/>
          <a:effectLst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>
              <a:buSzPct val="25000"/>
            </a:pPr>
            <a:r>
              <a:rPr lang="en-US" altLang="zh-CN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cs typeface="+mn-ea"/>
                <a:sym typeface="+mn-lt"/>
              </a:rPr>
              <a:t>03</a:t>
            </a:r>
            <a:endParaRPr lang="en-US" altLang="zh-CN" sz="4800" dirty="0">
              <a:solidFill>
                <a:schemeClr val="bg1">
                  <a:lumMod val="95000"/>
                  <a:lumOff val="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257800" y="2583180"/>
            <a:ext cx="3432810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l"/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云原生化的</a:t>
            </a:r>
            <a:r>
              <a:rPr lang="en-US" altLang="zh-CN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SaaS </a:t>
            </a:r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平台</a:t>
            </a:r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介绍</a:t>
            </a:r>
            <a:endParaRPr lang="zh-CN" altLang="en-US" sz="2000" b="1" dirty="0"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382024" y="2195799"/>
            <a:ext cx="1015174" cy="830999"/>
          </a:xfrm>
          <a:prstGeom prst="rect">
            <a:avLst/>
          </a:prstGeom>
          <a:noFill/>
          <a:effectLst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>
              <a:buSzPct val="25000"/>
            </a:pPr>
            <a:r>
              <a:rPr lang="en-US" altLang="zh-CN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cs typeface="+mn-ea"/>
                <a:sym typeface="+mn-lt"/>
              </a:rPr>
              <a:t>02</a:t>
            </a:r>
            <a:endParaRPr lang="en-US" altLang="zh-CN" sz="4800" dirty="0">
              <a:solidFill>
                <a:schemeClr val="bg1">
                  <a:lumMod val="95000"/>
                  <a:lumOff val="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67491" y="2195799"/>
            <a:ext cx="2253054" cy="7078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sp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cs typeface="+mn-ea"/>
                <a:sym typeface="+mn-lt"/>
              </a:rPr>
              <a:t>Content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57881" y="4448885"/>
            <a:ext cx="1919614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l"/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未来</a:t>
            </a:r>
            <a:r>
              <a:rPr lang="zh-CN" alt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规划</a:t>
            </a:r>
            <a:endParaRPr lang="zh-CN" altLang="en-US" sz="2000" b="1" dirty="0"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82023" y="4093901"/>
            <a:ext cx="1015175" cy="830999"/>
          </a:xfrm>
          <a:prstGeom prst="rect">
            <a:avLst/>
          </a:prstGeom>
          <a:noFill/>
          <a:effectLst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>
              <a:buSzPct val="25000"/>
            </a:pPr>
            <a:r>
              <a:rPr lang="en-US" altLang="zh-CN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cs typeface="+mn-ea"/>
                <a:sym typeface="+mn-lt"/>
              </a:rPr>
              <a:t>04</a:t>
            </a:r>
            <a:endParaRPr lang="en-US" altLang="zh-CN" sz="4800" dirty="0">
              <a:solidFill>
                <a:schemeClr val="bg1">
                  <a:lumMod val="95000"/>
                  <a:lumOff val="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2999" y="2197549"/>
            <a:ext cx="5398007" cy="1290474"/>
          </a:xfrm>
        </p:spPr>
        <p:txBody>
          <a:bodyPr/>
          <a:lstStyle/>
          <a:p>
            <a:r>
              <a:rPr dirty="0">
                <a:cs typeface="+mn-ea"/>
                <a:sym typeface="+mn-lt"/>
              </a:rPr>
              <a:t>业务背景和挑战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43000" y="2069653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Part</a:t>
            </a:r>
            <a:endParaRPr lang="en-GB" altLang="zh-CN" sz="4800" b="1" dirty="0">
              <a:ln w="12700">
                <a:solidFill>
                  <a:srgbClr val="4640E1"/>
                </a:solidFill>
              </a:ln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25110" y="2069653"/>
            <a:ext cx="8707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accent1"/>
                </a:solidFill>
                <a:cs typeface="+mn-ea"/>
                <a:sym typeface="+mn-lt"/>
              </a:rPr>
              <a:t>01</a:t>
            </a:r>
            <a:endParaRPr kumimoji="1" lang="zh-CN" altLang="en-US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产品销售</a:t>
            </a:r>
            <a:r>
              <a:rPr kumimoji="1" lang="zh-CN" altLang="en-US" dirty="0"/>
              <a:t>形态</a:t>
            </a:r>
            <a:endParaRPr kumimoji="1"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660400" y="2432685"/>
            <a:ext cx="3383280" cy="19926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MaaS </a:t>
            </a:r>
            <a:r>
              <a:rPr lang="zh-CN" altLang="en-US"/>
              <a:t>服务</a:t>
            </a:r>
            <a:br>
              <a:rPr lang="zh-CN" altLang="en-US"/>
            </a:br>
            <a:br>
              <a:rPr lang="zh-CN" altLang="en-US"/>
            </a:br>
            <a:r>
              <a:rPr lang="en-US" altLang="zh-CN"/>
              <a:t>Pay for Tokens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4294505" y="2432685"/>
            <a:ext cx="3383280" cy="19926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模型</a:t>
            </a:r>
            <a:r>
              <a:rPr lang="zh-CN" altLang="en-US"/>
              <a:t>部署</a:t>
            </a:r>
            <a:br>
              <a:rPr lang="zh-CN" altLang="en-US"/>
            </a:br>
            <a:br>
              <a:rPr lang="zh-CN" altLang="en-US"/>
            </a:br>
            <a:r>
              <a:rPr lang="en-US" altLang="zh-CN"/>
              <a:t>Pay for </a:t>
            </a:r>
            <a:r>
              <a:rPr lang="en-US" altLang="zh-CN"/>
              <a:t>Instances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8141335" y="3081655"/>
            <a:ext cx="1856740" cy="13436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模型训练</a:t>
            </a:r>
            <a:r>
              <a:rPr lang="en-US" altLang="zh-CN"/>
              <a:t>/</a:t>
            </a:r>
            <a:r>
              <a:rPr lang="zh-CN" altLang="en-US"/>
              <a:t>微调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10250170" y="3081655"/>
            <a:ext cx="1380490" cy="13436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开发</a:t>
            </a:r>
            <a:r>
              <a:rPr lang="zh-CN" altLang="en-US"/>
              <a:t>机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大模型推理的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三高</a:t>
            </a:r>
            <a:r>
              <a:rPr kumimoji="1" lang="en-US" altLang="zh-CN" dirty="0"/>
              <a:t>”</a:t>
            </a:r>
            <a:r>
              <a:rPr kumimoji="1" lang="zh-CN" altLang="en-US" dirty="0"/>
              <a:t>问题</a:t>
            </a:r>
            <a:r>
              <a:rPr kumimoji="1" lang="en-US" altLang="zh-CN" dirty="0"/>
              <a:t> - MaaS</a:t>
            </a:r>
            <a:endParaRPr kumimoji="1"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MaaS </a:t>
            </a:r>
            <a:r>
              <a:rPr lang="zh-CN" altLang="en-US" dirty="0">
                <a:solidFill>
                  <a:schemeClr val="bg1"/>
                </a:solidFill>
              </a:rPr>
              <a:t>面临的</a:t>
            </a:r>
            <a:r>
              <a:rPr lang="zh-CN" altLang="en-US" dirty="0">
                <a:solidFill>
                  <a:schemeClr val="bg1"/>
                </a:solidFill>
              </a:rPr>
              <a:t>问题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高并发</a:t>
            </a:r>
            <a:r>
              <a:rPr lang="zh-CN" altLang="en-US" dirty="0">
                <a:solidFill>
                  <a:schemeClr val="bg1"/>
                </a:solidFill>
              </a:rPr>
              <a:t>需求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推理性能</a:t>
            </a:r>
            <a:r>
              <a:rPr lang="zh-CN" altLang="en-US" dirty="0">
                <a:solidFill>
                  <a:schemeClr val="bg1"/>
                </a:solidFill>
              </a:rPr>
              <a:t>问题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成本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AI </a:t>
            </a:r>
            <a:r>
              <a:rPr lang="zh-CN" altLang="en-US" dirty="0">
                <a:solidFill>
                  <a:schemeClr val="bg1"/>
                </a:solidFill>
              </a:rPr>
              <a:t>网关</a:t>
            </a:r>
            <a:r>
              <a:rPr lang="en-US" altLang="zh-CN" dirty="0">
                <a:solidFill>
                  <a:schemeClr val="bg1"/>
                </a:solidFill>
              </a:rPr>
              <a:t> -&gt; </a:t>
            </a:r>
            <a:r>
              <a:rPr lang="zh-CN" altLang="en-US" dirty="0">
                <a:solidFill>
                  <a:schemeClr val="bg1"/>
                </a:solidFill>
              </a:rPr>
              <a:t>限流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prompt cache </a:t>
            </a:r>
            <a:r>
              <a:rPr lang="zh-CN" altLang="en-US" dirty="0">
                <a:solidFill>
                  <a:schemeClr val="bg1"/>
                </a:solidFill>
              </a:rPr>
              <a:t>，认证</a:t>
            </a:r>
            <a:r>
              <a:rPr lang="en-US" altLang="zh-CN" dirty="0">
                <a:solidFill>
                  <a:schemeClr val="bg1"/>
                </a:solidFill>
              </a:rPr>
              <a:t> ...  &gt;&gt; Knowy </a:t>
            </a:r>
            <a:r>
              <a:rPr lang="zh-CN" altLang="en-US" dirty="0">
                <a:solidFill>
                  <a:schemeClr val="bg1"/>
                </a:solidFill>
              </a:rPr>
              <a:t>（尚未</a:t>
            </a:r>
            <a:r>
              <a:rPr lang="zh-CN" altLang="en-US" dirty="0">
                <a:solidFill>
                  <a:schemeClr val="bg1"/>
                </a:solidFill>
              </a:rPr>
              <a:t>开源）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直接影响性能的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推理框架</a:t>
            </a:r>
            <a:r>
              <a:rPr lang="en-US" altLang="zh-CN" dirty="0">
                <a:solidFill>
                  <a:schemeClr val="bg1"/>
                </a:solidFill>
              </a:rPr>
              <a:t> runtime 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 vllm 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sglang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成本</a:t>
            </a:r>
            <a:r>
              <a:rPr lang="en-US" altLang="zh-CN" dirty="0">
                <a:solidFill>
                  <a:schemeClr val="bg1"/>
                </a:solidFill>
              </a:rPr>
              <a:t> ... </a:t>
            </a:r>
            <a:r>
              <a:rPr lang="zh-CN" altLang="en-US" dirty="0">
                <a:solidFill>
                  <a:schemeClr val="bg1"/>
                </a:solidFill>
              </a:rPr>
              <a:t>短时间不太能解决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大模型推理的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三高</a:t>
            </a:r>
            <a:r>
              <a:rPr kumimoji="1" lang="en-US" altLang="zh-CN" dirty="0"/>
              <a:t>”</a:t>
            </a:r>
            <a:r>
              <a:rPr kumimoji="1" lang="zh-CN" altLang="en-US" dirty="0"/>
              <a:t>问题</a:t>
            </a:r>
            <a:r>
              <a:rPr kumimoji="1" lang="en-US" altLang="zh-CN" dirty="0"/>
              <a:t> - </a:t>
            </a:r>
            <a:r>
              <a:rPr kumimoji="1" dirty="0"/>
              <a:t>模型</a:t>
            </a:r>
            <a:r>
              <a:rPr kumimoji="1" dirty="0"/>
              <a:t>部署</a:t>
            </a:r>
            <a:endParaRPr kumimoji="1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模型要多，难以统一</a:t>
            </a:r>
            <a:r>
              <a:rPr lang="zh-CN" altLang="en-US" dirty="0">
                <a:solidFill>
                  <a:schemeClr val="bg1"/>
                </a:solidFill>
              </a:rPr>
              <a:t>管理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小模型会带来</a:t>
            </a:r>
            <a:r>
              <a:rPr lang="en-US" altLang="zh-CN" dirty="0">
                <a:solidFill>
                  <a:schemeClr val="bg1"/>
                </a:solidFill>
              </a:rPr>
              <a:t>GPU</a:t>
            </a:r>
            <a:r>
              <a:rPr lang="zh-CN" altLang="en-US" dirty="0">
                <a:solidFill>
                  <a:schemeClr val="bg1"/>
                </a:solidFill>
              </a:rPr>
              <a:t>利用率</a:t>
            </a:r>
            <a:r>
              <a:rPr lang="zh-CN" altLang="en-US" dirty="0">
                <a:solidFill>
                  <a:schemeClr val="bg1"/>
                </a:solidFill>
              </a:rPr>
              <a:t>不高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- </a:t>
            </a:r>
            <a:r>
              <a:rPr lang="zh-CN" altLang="en-US" dirty="0">
                <a:solidFill>
                  <a:schemeClr val="bg1"/>
                </a:solidFill>
              </a:rPr>
              <a:t>提供统一的模型范式定义</a:t>
            </a:r>
            <a:r>
              <a:rPr lang="en-US" altLang="zh-CN" dirty="0">
                <a:solidFill>
                  <a:schemeClr val="bg1"/>
                </a:solidFill>
              </a:rPr>
              <a:t> -&gt; baizeai/ModelHub 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runtime,model source, </a:t>
            </a:r>
            <a:r>
              <a:rPr lang="zh-CN" altLang="en-US" dirty="0">
                <a:solidFill>
                  <a:schemeClr val="bg1"/>
                </a:solidFill>
              </a:rPr>
              <a:t>部署</a:t>
            </a:r>
            <a:r>
              <a:rPr lang="zh-CN" altLang="en-US" dirty="0">
                <a:solidFill>
                  <a:schemeClr val="bg1"/>
                </a:solidFill>
              </a:rPr>
              <a:t>要求）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- </a:t>
            </a:r>
            <a:r>
              <a:rPr lang="zh-CN" altLang="en-US" dirty="0">
                <a:solidFill>
                  <a:schemeClr val="bg1"/>
                </a:solidFill>
              </a:rPr>
              <a:t>需要使用</a:t>
            </a:r>
            <a:r>
              <a:rPr lang="en-US" altLang="zh-CN" dirty="0">
                <a:solidFill>
                  <a:schemeClr val="bg1"/>
                </a:solidFill>
              </a:rPr>
              <a:t> vGPU (HAMi</a:t>
            </a:r>
            <a:r>
              <a:rPr lang="zh-CN" altLang="en-US" dirty="0">
                <a:solidFill>
                  <a:schemeClr val="bg1"/>
                </a:solidFill>
              </a:rPr>
              <a:t>）提高</a:t>
            </a:r>
            <a:r>
              <a:rPr lang="zh-CN" altLang="en-US" dirty="0">
                <a:solidFill>
                  <a:schemeClr val="bg1"/>
                </a:solidFill>
              </a:rPr>
              <a:t>利用率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- </a:t>
            </a:r>
            <a:r>
              <a:rPr lang="zh-CN" altLang="en-US" dirty="0">
                <a:solidFill>
                  <a:schemeClr val="bg1"/>
                </a:solidFill>
              </a:rPr>
              <a:t>我们会混合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模型实例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开发机实例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- </a:t>
            </a:r>
            <a:r>
              <a:rPr lang="zh-CN" altLang="en-US" dirty="0">
                <a:solidFill>
                  <a:schemeClr val="bg1"/>
                </a:solidFill>
              </a:rPr>
              <a:t>统一调度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（多集群的混合统一</a:t>
            </a:r>
            <a:r>
              <a:rPr lang="zh-CN" altLang="en-US" dirty="0">
                <a:solidFill>
                  <a:schemeClr val="bg1"/>
                </a:solidFill>
              </a:rPr>
              <a:t>调度）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算力资源接入</a:t>
            </a:r>
            <a:r>
              <a:rPr kumimoji="1" lang="zh-CN" altLang="en-US" dirty="0"/>
              <a:t>方式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549275" y="3493135"/>
            <a:ext cx="2251710" cy="225171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自持</a:t>
            </a:r>
            <a:r>
              <a:rPr lang="zh-CN" altLang="en-US"/>
              <a:t>算力</a:t>
            </a: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39160" y="3429635"/>
            <a:ext cx="2251710" cy="2251710"/>
          </a:xfrm>
          <a:prstGeom prst="ellipse">
            <a:avLst/>
          </a:prstGeom>
          <a:ln w="38100" cap="flat" cmpd="sng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三方接入</a:t>
            </a:r>
            <a:endParaRPr lang="zh-CN" altLang="en-US" b="1"/>
          </a:p>
        </p:txBody>
      </p:sp>
      <p:sp>
        <p:nvSpPr>
          <p:cNvPr id="6" name="圆角矩形 5"/>
          <p:cNvSpPr/>
          <p:nvPr/>
        </p:nvSpPr>
        <p:spPr>
          <a:xfrm>
            <a:off x="1431925" y="1766570"/>
            <a:ext cx="3389630" cy="92519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统一算力管控</a:t>
            </a:r>
            <a:r>
              <a:rPr lang="zh-CN" altLang="en-US"/>
              <a:t>平台</a:t>
            </a:r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2800985" y="2877820"/>
            <a:ext cx="675640" cy="78803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5930900" y="1231900"/>
            <a:ext cx="5594350" cy="500380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借助云原生提供的技术底座，我们实现统一的算力管控平台，支持大量接入算力</a:t>
            </a:r>
            <a:r>
              <a:rPr lang="zh-CN" altLang="en-US" dirty="0">
                <a:solidFill>
                  <a:schemeClr val="bg1"/>
                </a:solidFill>
              </a:rPr>
              <a:t>资源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主要接入的算力资源主要以两种</a:t>
            </a:r>
            <a:r>
              <a:rPr lang="zh-CN" altLang="en-US" dirty="0">
                <a:solidFill>
                  <a:schemeClr val="bg1"/>
                </a:solidFill>
              </a:rPr>
              <a:t>为主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自持</a:t>
            </a:r>
            <a:r>
              <a:rPr lang="zh-CN" altLang="en-US" dirty="0">
                <a:solidFill>
                  <a:schemeClr val="bg1"/>
                </a:solidFill>
              </a:rPr>
              <a:t>算力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合作企业提供算力</a:t>
            </a:r>
            <a:r>
              <a:rPr lang="zh-CN" altLang="en-US" dirty="0">
                <a:solidFill>
                  <a:schemeClr val="bg1"/>
                </a:solidFill>
              </a:rPr>
              <a:t>租赁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算力接入方式</a:t>
            </a:r>
            <a:r>
              <a:rPr kumimoji="1" lang="en-US" altLang="zh-CN" dirty="0"/>
              <a:t> - </a:t>
            </a:r>
            <a:r>
              <a:rPr kumimoji="1" dirty="0"/>
              <a:t>统一管控</a:t>
            </a:r>
            <a:r>
              <a:rPr kumimoji="1" dirty="0"/>
              <a:t>平台</a:t>
            </a:r>
            <a:endParaRPr kumimoji="1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算力接入方式</a:t>
            </a:r>
            <a:r>
              <a:rPr kumimoji="1" lang="en-US" altLang="zh-CN" dirty="0"/>
              <a:t> - </a:t>
            </a:r>
            <a:r>
              <a:rPr kumimoji="1" dirty="0"/>
              <a:t>自持</a:t>
            </a:r>
            <a:r>
              <a:rPr kumimoji="1" dirty="0"/>
              <a:t>算力</a:t>
            </a:r>
            <a:endParaRPr kumimoj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算力接入方式</a:t>
            </a:r>
            <a:r>
              <a:rPr kumimoji="1" lang="en-US" altLang="zh-CN" dirty="0"/>
              <a:t> - </a:t>
            </a:r>
            <a:r>
              <a:rPr kumimoji="1" dirty="0"/>
              <a:t>三方</a:t>
            </a:r>
            <a:r>
              <a:rPr kumimoji="1" dirty="0"/>
              <a:t>接入</a:t>
            </a:r>
            <a:endParaRPr kumimoj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卡不同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（异构）</a:t>
            </a:r>
            <a:r>
              <a:rPr lang="en-US" altLang="zh-CN" dirty="0">
                <a:cs typeface="+mn-ea"/>
                <a:sym typeface="+mn-lt"/>
              </a:rPr>
              <a:t> &gt;&gt;&gt; </a:t>
            </a:r>
            <a:r>
              <a:rPr lang="zh-CN" altLang="en-US" dirty="0">
                <a:cs typeface="+mn-ea"/>
                <a:sym typeface="+mn-lt"/>
              </a:rPr>
              <a:t>统一的算力资源池化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kpanda GPU </a:t>
            </a:r>
            <a:r>
              <a:rPr lang="zh-CN" altLang="en-US" dirty="0">
                <a:cs typeface="+mn-ea"/>
                <a:sym typeface="+mn-lt"/>
              </a:rPr>
              <a:t>管理）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地域不同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（调度复杂性）</a:t>
            </a:r>
            <a:r>
              <a:rPr lang="en-US" altLang="zh-CN" dirty="0">
                <a:cs typeface="+mn-ea"/>
                <a:sym typeface="+mn-lt"/>
              </a:rPr>
              <a:t> &gt;&gt;&gt; Kueue </a:t>
            </a:r>
            <a:r>
              <a:rPr lang="zh-CN" altLang="en-US" dirty="0">
                <a:cs typeface="+mn-ea"/>
                <a:sym typeface="+mn-lt"/>
              </a:rPr>
              <a:t>的</a:t>
            </a:r>
            <a:r>
              <a:rPr lang="zh-CN" altLang="en-US" dirty="0">
                <a:cs typeface="+mn-ea"/>
                <a:sym typeface="+mn-lt"/>
              </a:rPr>
              <a:t>调度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稳定性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（当三方算力集群出现波动时，如果保证已有用的资源</a:t>
            </a:r>
            <a:r>
              <a:rPr lang="zh-CN" altLang="en-US" dirty="0">
                <a:cs typeface="+mn-ea"/>
                <a:sym typeface="+mn-lt"/>
              </a:rPr>
              <a:t>稳定）</a:t>
            </a:r>
            <a:endParaRPr lang="zh-CN" altLang="en-US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要可靠的企业</a:t>
            </a:r>
            <a:r>
              <a:rPr lang="zh-CN" altLang="en-US" dirty="0">
                <a:cs typeface="+mn-ea"/>
                <a:sym typeface="+mn-lt"/>
              </a:rPr>
              <a:t>供应</a:t>
            </a:r>
            <a:endParaRPr lang="zh-CN" altLang="en-US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需要在产品能力上将备份机制</a:t>
            </a:r>
            <a:r>
              <a:rPr lang="zh-CN" altLang="en-US" dirty="0">
                <a:cs typeface="+mn-ea"/>
                <a:sym typeface="+mn-lt"/>
              </a:rPr>
              <a:t>设定好</a:t>
            </a:r>
            <a:endParaRPr lang="zh-CN" altLang="en-US" dirty="0"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监控运维</a:t>
            </a:r>
            <a:r>
              <a:rPr lang="en-US" altLang="zh-CN" dirty="0">
                <a:cs typeface="+mn-ea"/>
                <a:sym typeface="+mn-lt"/>
              </a:rPr>
              <a:t>  &gt;&gt; KCover  </a:t>
            </a:r>
            <a:r>
              <a:rPr lang="zh-CN" altLang="en-US" dirty="0">
                <a:cs typeface="+mn-ea"/>
                <a:sym typeface="+mn-lt"/>
              </a:rPr>
              <a:t>故障自恢复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zh-CN" altLang="en-US" dirty="0">
                <a:cs typeface="+mn-ea"/>
                <a:sym typeface="+mn-lt"/>
              </a:rPr>
              <a:t>掉卡续训）</a:t>
            </a:r>
            <a:endParaRPr lang="zh-CN" altLang="en-US" dirty="0"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接入成本高</a:t>
            </a:r>
            <a:r>
              <a:rPr lang="en-US" altLang="zh-CN" dirty="0">
                <a:cs typeface="+mn-ea"/>
                <a:sym typeface="+mn-lt"/>
              </a:rPr>
              <a:t>  &gt;&gt; </a:t>
            </a:r>
            <a:r>
              <a:rPr lang="zh-CN" altLang="en-US" dirty="0">
                <a:cs typeface="+mn-ea"/>
                <a:sym typeface="+mn-lt"/>
              </a:rPr>
              <a:t>标准化的产品接入方式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（现在的说成之前，想要的说成</a:t>
            </a:r>
            <a:r>
              <a:rPr lang="zh-CN" altLang="en-US" dirty="0">
                <a:cs typeface="+mn-ea"/>
                <a:sym typeface="+mn-lt"/>
              </a:rPr>
              <a:t>马上）</a:t>
            </a:r>
            <a:endParaRPr lang="zh-CN" altLang="en-US" dirty="0"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sym typeface="+mn-ea"/>
              </a:rPr>
              <a:t>高成本</a:t>
            </a:r>
            <a:r>
              <a:rPr dirty="0">
                <a:solidFill>
                  <a:schemeClr val="bg1"/>
                </a:solidFill>
                <a:sym typeface="+mn-ea"/>
              </a:rPr>
              <a:t>问题</a:t>
            </a:r>
            <a:endParaRPr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算力资源纳管成本，底座环境经常变化，如果避免对用户的</a:t>
            </a:r>
            <a:r>
              <a:rPr lang="zh-CN" altLang="en-US" dirty="0">
                <a:cs typeface="+mn-ea"/>
                <a:sym typeface="+mn-lt"/>
              </a:rPr>
              <a:t>应用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运维</a:t>
            </a:r>
            <a:r>
              <a:rPr lang="zh-CN" altLang="en-US" dirty="0">
                <a:cs typeface="+mn-ea"/>
                <a:sym typeface="+mn-lt"/>
              </a:rPr>
              <a:t>成本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算力</a:t>
            </a:r>
            <a:r>
              <a:rPr lang="zh-CN" altLang="en-US" dirty="0">
                <a:cs typeface="+mn-ea"/>
                <a:sym typeface="+mn-lt"/>
              </a:rPr>
              <a:t>成本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GPU </a:t>
            </a:r>
            <a:r>
              <a:rPr lang="zh-CN" altLang="en-US" dirty="0">
                <a:cs typeface="+mn-ea"/>
                <a:sym typeface="+mn-lt"/>
              </a:rPr>
              <a:t>动态拆分</a:t>
            </a:r>
            <a:r>
              <a:rPr lang="en-US" altLang="zh-CN" dirty="0">
                <a:cs typeface="+mn-ea"/>
                <a:sym typeface="+mn-lt"/>
              </a:rPr>
              <a:t> + </a:t>
            </a:r>
            <a:r>
              <a:rPr lang="zh-CN" altLang="en-US" dirty="0">
                <a:cs typeface="+mn-ea"/>
                <a:sym typeface="+mn-lt"/>
              </a:rPr>
              <a:t>统一调度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HAMi</a:t>
            </a:r>
            <a:r>
              <a:rPr lang="zh-CN" altLang="en-US" dirty="0">
                <a:cs typeface="+mn-ea"/>
                <a:sym typeface="+mn-lt"/>
              </a:rPr>
              <a:t>）</a:t>
            </a:r>
            <a:r>
              <a:rPr lang="en-US" altLang="zh-CN" dirty="0">
                <a:cs typeface="+mn-ea"/>
                <a:sym typeface="+mn-lt"/>
              </a:rPr>
              <a:t>/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Kueue</a:t>
            </a:r>
            <a:r>
              <a:rPr lang="zh-CN" altLang="en-US" dirty="0">
                <a:cs typeface="+mn-ea"/>
                <a:sym typeface="+mn-lt"/>
              </a:rPr>
              <a:t>）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一键接入算力集群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todo 80%</a:t>
            </a:r>
            <a:r>
              <a:rPr lang="zh-CN" altLang="en-US" dirty="0">
                <a:cs typeface="+mn-ea"/>
                <a:sym typeface="+mn-lt"/>
              </a:rPr>
              <a:t>）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chemeClr val="bg1"/>
                </a:solidFill>
                <a:sym typeface="+mn-ea"/>
              </a:rPr>
              <a:t>高复杂性（模型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/</a:t>
            </a:r>
            <a:r>
              <a:rPr dirty="0">
                <a:solidFill>
                  <a:schemeClr val="bg1"/>
                </a:solidFill>
                <a:sym typeface="+mn-ea"/>
              </a:rPr>
              <a:t>框架异构）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算力资源需要考虑异构问题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模型种类</a:t>
            </a:r>
            <a:r>
              <a:rPr lang="zh-CN" altLang="en-US" dirty="0">
                <a:cs typeface="+mn-ea"/>
                <a:sym typeface="+mn-lt"/>
              </a:rPr>
              <a:t>范围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推理框架</a:t>
            </a:r>
            <a:r>
              <a:rPr lang="zh-CN" altLang="en-US" dirty="0">
                <a:cs typeface="+mn-ea"/>
                <a:sym typeface="+mn-lt"/>
              </a:rPr>
              <a:t>繁多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提供统一的模型范式</a:t>
            </a:r>
            <a:r>
              <a:rPr lang="zh-CN" altLang="en-US" dirty="0">
                <a:cs typeface="+mn-ea"/>
                <a:sym typeface="+mn-lt"/>
              </a:rPr>
              <a:t>定义</a:t>
            </a:r>
            <a:endParaRPr lang="zh-CN" altLang="en-US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runtime</a:t>
            </a:r>
            <a:endParaRPr lang="en-US" altLang="zh-CN" sz="1600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huggingface / modelscope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624195" y="1697355"/>
            <a:ext cx="5257165" cy="3517900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6400" b="1">
                <a:solidFill>
                  <a:schemeClr val="accent3"/>
                </a:solidFill>
                <a:latin typeface="Roboto Mono for Powerline Bold" charset="0"/>
                <a:cs typeface="Roboto Mono for Powerline Bold" charset="0"/>
              </a:rPr>
              <a:t>Model</a:t>
            </a:r>
            <a:r>
              <a:rPr lang="en-US" altLang="zh-CN" sz="6400" b="1">
                <a:solidFill>
                  <a:schemeClr val="accent3"/>
                </a:solidFill>
                <a:latin typeface="Roboto Mono for Powerline Bold" charset="0"/>
                <a:cs typeface="Roboto Mono for Powerline Bold" charset="0"/>
              </a:rPr>
              <a:t>Hub</a:t>
            </a:r>
            <a:endParaRPr lang="en-US" altLang="zh-CN" sz="6400" b="1">
              <a:solidFill>
                <a:schemeClr val="accent3"/>
              </a:solidFill>
              <a:latin typeface="Roboto Mono for Powerline Bold" charset="0"/>
              <a:cs typeface="Roboto Mono for Powerline Bold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chemeClr val="bg1"/>
                </a:solidFill>
                <a:sym typeface="+mn-ea"/>
              </a:rPr>
              <a:t>高延迟（用户容忍度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&lt;2s</a:t>
            </a:r>
            <a:r>
              <a:rPr dirty="0">
                <a:solidFill>
                  <a:schemeClr val="bg1"/>
                </a:solidFill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2720" y="2197735"/>
            <a:ext cx="7146925" cy="1290320"/>
          </a:xfrm>
        </p:spPr>
        <p:txBody>
          <a:bodyPr/>
          <a:lstStyle/>
          <a:p>
            <a:r>
              <a:rPr dirty="0">
                <a:cs typeface="+mn-ea"/>
                <a:sym typeface="+mn-lt"/>
              </a:rPr>
              <a:t>云原生化的</a:t>
            </a:r>
            <a:r>
              <a:rPr lang="en-US" altLang="zh-CN" dirty="0">
                <a:cs typeface="+mn-ea"/>
                <a:sym typeface="+mn-lt"/>
              </a:rPr>
              <a:t> SaaS </a:t>
            </a:r>
            <a:r>
              <a:rPr dirty="0">
                <a:cs typeface="+mn-ea"/>
                <a:sym typeface="+mn-lt"/>
              </a:rPr>
              <a:t>平台介绍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43000" y="2069653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Part</a:t>
            </a:r>
            <a:endParaRPr lang="en-GB" altLang="zh-CN" sz="4800" b="1" dirty="0">
              <a:ln w="12700">
                <a:solidFill>
                  <a:srgbClr val="4640E1"/>
                </a:solidFill>
              </a:ln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29956" y="2069653"/>
            <a:ext cx="86106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accent1"/>
                </a:solidFill>
                <a:cs typeface="+mn-ea"/>
                <a:sym typeface="+mn-lt"/>
              </a:rPr>
              <a:t>02</a:t>
            </a:r>
            <a:endParaRPr kumimoji="1" lang="zh-CN" altLang="en-US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</p:nvPr>
        </p:nvSpPr>
        <p:spPr>
          <a:xfrm>
            <a:off x="1564919" y="3642814"/>
            <a:ext cx="5398007" cy="505084"/>
          </a:xfrm>
        </p:spPr>
        <p:txBody>
          <a:bodyPr/>
          <a:lstStyle/>
          <a:p>
            <a:r>
              <a:rPr dirty="0"/>
              <a:t>DaoCloud - D.run SaaS </a:t>
            </a:r>
            <a:r>
              <a:rPr lang="zh-CN" altLang="en-US" dirty="0"/>
              <a:t>平台</a:t>
            </a:r>
            <a:r>
              <a:rPr lang="zh-CN" altLang="en-US" dirty="0"/>
              <a:t>介绍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115" y="1555115"/>
            <a:ext cx="7582535" cy="4252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5940" y="1555115"/>
            <a:ext cx="324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模型广场，国内外主流开源模型，一键体验，</a:t>
            </a:r>
            <a:r>
              <a:rPr lang="zh-CN" altLang="en-US">
                <a:solidFill>
                  <a:schemeClr val="bg1"/>
                </a:solidFill>
              </a:rPr>
              <a:t>一键部署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5940" y="2521585"/>
            <a:ext cx="33051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支持国内主流开源</a:t>
            </a:r>
            <a:r>
              <a:rPr lang="zh-CN" altLang="en-US">
                <a:solidFill>
                  <a:schemeClr val="bg1"/>
                </a:solidFill>
              </a:rPr>
              <a:t>模型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支持模型快速部署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无需自行估算算力</a:t>
            </a:r>
            <a:r>
              <a:rPr lang="zh-CN" altLang="en-US">
                <a:solidFill>
                  <a:schemeClr val="bg1"/>
                </a:solidFill>
              </a:rPr>
              <a:t>资源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调用，通用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支持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模型部署按实例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公共模型调用按</a:t>
            </a:r>
            <a:r>
              <a:rPr lang="en-US" altLang="zh-CN">
                <a:solidFill>
                  <a:schemeClr val="bg1"/>
                </a:solidFill>
              </a:rPr>
              <a:t> Token 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kumimoji="1" dirty="0"/>
              <a:t>统一</a:t>
            </a:r>
            <a:r>
              <a:rPr kumimoji="1" dirty="0"/>
              <a:t>的模型</a:t>
            </a:r>
            <a:r>
              <a:rPr kumimoji="1" dirty="0"/>
              <a:t>广场</a:t>
            </a:r>
            <a:endParaRPr kumimoj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324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模型广场，国内外主流开源模型，一键体验，</a:t>
            </a:r>
            <a:r>
              <a:rPr lang="zh-CN" altLang="en-US">
                <a:solidFill>
                  <a:schemeClr val="bg1"/>
                </a:solidFill>
              </a:rPr>
              <a:t>一键部署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5940" y="2521585"/>
            <a:ext cx="33051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支持国内主流开源</a:t>
            </a:r>
            <a:r>
              <a:rPr lang="zh-CN" altLang="en-US">
                <a:solidFill>
                  <a:schemeClr val="bg1"/>
                </a:solidFill>
              </a:rPr>
              <a:t>模型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支持模型快速部署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无需自行估算算力</a:t>
            </a:r>
            <a:r>
              <a:rPr lang="zh-CN" altLang="en-US">
                <a:solidFill>
                  <a:schemeClr val="bg1"/>
                </a:solidFill>
              </a:rPr>
              <a:t>资源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调用，通用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支持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模型部署按实例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公共模型调用按</a:t>
            </a:r>
            <a:r>
              <a:rPr lang="en-US" altLang="zh-CN">
                <a:solidFill>
                  <a:schemeClr val="bg1"/>
                </a:solidFill>
              </a:rPr>
              <a:t> Token 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lang="en-US" altLang="zh-CN" dirty="0"/>
              <a:t>OpenAPI </a:t>
            </a:r>
            <a:r>
              <a:rPr kumimoji="1" dirty="0"/>
              <a:t>调用</a:t>
            </a:r>
            <a:r>
              <a:rPr kumimoji="1" lang="en-US" altLang="zh-CN" dirty="0"/>
              <a:t> </a:t>
            </a:r>
            <a:r>
              <a:rPr kumimoji="1" dirty="0"/>
              <a:t>（监控</a:t>
            </a:r>
            <a:r>
              <a:rPr kumimoji="1" lang="en-US" altLang="zh-CN" dirty="0"/>
              <a:t> OpenAI </a:t>
            </a:r>
            <a:r>
              <a:rPr kumimoji="1" dirty="0"/>
              <a:t>接口</a:t>
            </a:r>
            <a:r>
              <a:rPr kumimoji="1" dirty="0"/>
              <a:t>风格）</a:t>
            </a:r>
            <a:endParaRPr kumimoj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324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模型广场，国内外主流开源模型，一键体验，</a:t>
            </a:r>
            <a:r>
              <a:rPr lang="zh-CN" altLang="en-US">
                <a:solidFill>
                  <a:schemeClr val="bg1"/>
                </a:solidFill>
              </a:rPr>
              <a:t>一键部署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5940" y="2521585"/>
            <a:ext cx="33051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支持国内主流开源</a:t>
            </a:r>
            <a:r>
              <a:rPr lang="zh-CN" altLang="en-US">
                <a:solidFill>
                  <a:schemeClr val="bg1"/>
                </a:solidFill>
              </a:rPr>
              <a:t>模型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支持模型快速部署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无需自行估算算力</a:t>
            </a:r>
            <a:r>
              <a:rPr lang="zh-CN" altLang="en-US">
                <a:solidFill>
                  <a:schemeClr val="bg1"/>
                </a:solidFill>
              </a:rPr>
              <a:t>资源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调用，通用</a:t>
            </a:r>
            <a:r>
              <a:rPr lang="en-US" altLang="zh-CN">
                <a:solidFill>
                  <a:schemeClr val="bg1"/>
                </a:solidFill>
              </a:rPr>
              <a:t> API </a:t>
            </a:r>
            <a:r>
              <a:rPr lang="zh-CN" altLang="en-US">
                <a:solidFill>
                  <a:schemeClr val="bg1"/>
                </a:solidFill>
              </a:rPr>
              <a:t>支持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模型部署按实例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公共模型调用按</a:t>
            </a:r>
            <a:r>
              <a:rPr lang="en-US" altLang="zh-CN">
                <a:solidFill>
                  <a:schemeClr val="bg1"/>
                </a:solidFill>
              </a:rPr>
              <a:t> Token </a:t>
            </a:r>
            <a:r>
              <a:rPr lang="zh-CN" altLang="en-US">
                <a:solidFill>
                  <a:schemeClr val="bg1"/>
                </a:solidFill>
              </a:rPr>
              <a:t>计费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dirty="0"/>
              <a:t>核心依赖</a:t>
            </a:r>
            <a:r>
              <a:rPr kumimoji="1" lang="en-US" altLang="zh-CN" dirty="0"/>
              <a:t> - </a:t>
            </a:r>
            <a:r>
              <a:rPr kumimoji="1" dirty="0"/>
              <a:t>统一的</a:t>
            </a:r>
            <a:r>
              <a:rPr kumimoji="1" lang="en-US" altLang="zh-CN" dirty="0"/>
              <a:t> AI </a:t>
            </a:r>
            <a:r>
              <a:rPr kumimoji="1" dirty="0"/>
              <a:t>网关</a:t>
            </a:r>
            <a:endParaRPr kumimoji="1" dirty="0"/>
          </a:p>
        </p:txBody>
      </p:sp>
      <p:sp>
        <p:nvSpPr>
          <p:cNvPr id="2" name="圆角矩形 1"/>
          <p:cNvSpPr/>
          <p:nvPr/>
        </p:nvSpPr>
        <p:spPr>
          <a:xfrm>
            <a:off x="5624195" y="1697355"/>
            <a:ext cx="5257165" cy="3517900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6400" b="1">
                <a:solidFill>
                  <a:schemeClr val="accent3"/>
                </a:solidFill>
                <a:latin typeface="Roboto Mono for Powerline Bold" charset="0"/>
                <a:cs typeface="Roboto Mono for Powerline Bold" charset="0"/>
              </a:rPr>
              <a:t>Knowy</a:t>
            </a:r>
            <a:endParaRPr lang="en-US" altLang="zh-CN" sz="6400" b="1">
              <a:solidFill>
                <a:schemeClr val="accent3"/>
              </a:solidFill>
              <a:latin typeface="Roboto Mono for Powerline Bold" charset="0"/>
              <a:cs typeface="Roboto Mono for Powerline Bold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2720" y="2197735"/>
            <a:ext cx="7146925" cy="1290320"/>
          </a:xfrm>
        </p:spPr>
        <p:txBody>
          <a:bodyPr/>
          <a:lstStyle/>
          <a:p>
            <a:r>
              <a:rPr dirty="0">
                <a:cs typeface="+mn-ea"/>
                <a:sym typeface="+mn-lt"/>
              </a:rPr>
              <a:t>开源技术的力量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AI/LLM</a:t>
            </a:r>
            <a:r>
              <a:rPr dirty="0">
                <a:cs typeface="+mn-ea"/>
                <a:sym typeface="+mn-lt"/>
              </a:rPr>
              <a:t>）</a:t>
            </a:r>
            <a:endParaRPr kumimoji="1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3000" y="2069653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Part</a:t>
            </a:r>
            <a:endParaRPr lang="en-GB" altLang="zh-CN" sz="4800" b="1" dirty="0">
              <a:ln w="12700">
                <a:solidFill>
                  <a:srgbClr val="4640E1"/>
                </a:solidFill>
              </a:ln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29956" y="2069653"/>
            <a:ext cx="86106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accent1"/>
                </a:solidFill>
                <a:cs typeface="+mn-ea"/>
                <a:sym typeface="+mn-lt"/>
              </a:rPr>
              <a:t>03</a:t>
            </a:r>
            <a:endParaRPr kumimoji="1" lang="zh-CN" altLang="en-US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</p:nvPr>
        </p:nvSpPr>
        <p:spPr>
          <a:xfrm>
            <a:off x="1564919" y="3642814"/>
            <a:ext cx="5398007" cy="505084"/>
          </a:xfrm>
        </p:spPr>
        <p:txBody>
          <a:bodyPr/>
          <a:lstStyle/>
          <a:p>
            <a:r>
              <a:rPr lang="zh-CN" altLang="en-US" dirty="0"/>
              <a:t>使用开源</a:t>
            </a:r>
            <a:r>
              <a:rPr dirty="0"/>
              <a:t> &gt; </a:t>
            </a:r>
            <a:r>
              <a:rPr lang="zh-CN" altLang="en-US" dirty="0"/>
              <a:t>参与开源</a:t>
            </a:r>
            <a:r>
              <a:rPr dirty="0"/>
              <a:t> &gt; </a:t>
            </a:r>
            <a:r>
              <a:rPr lang="zh-CN" altLang="en-US" dirty="0"/>
              <a:t>贡献</a:t>
            </a:r>
            <a:r>
              <a:rPr lang="zh-CN" altLang="en-US" dirty="0"/>
              <a:t>开源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418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管理</a:t>
            </a:r>
            <a:r>
              <a:rPr lang="en-US" altLang="zh-CN">
                <a:solidFill>
                  <a:schemeClr val="bg1"/>
                </a:solidFill>
              </a:rPr>
              <a:t> / </a:t>
            </a:r>
            <a:r>
              <a:rPr lang="zh-CN" altLang="en-US">
                <a:solidFill>
                  <a:schemeClr val="bg1"/>
                </a:solidFill>
              </a:rPr>
              <a:t>算力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集群分离，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独立</a:t>
            </a:r>
            <a:r>
              <a:rPr lang="zh-CN" altLang="en-US">
                <a:solidFill>
                  <a:schemeClr val="bg1"/>
                </a:solidFill>
              </a:rPr>
              <a:t>接入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5940" y="2521585"/>
            <a:ext cx="33051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容器化平台与应用平台</a:t>
            </a:r>
            <a:r>
              <a:rPr lang="zh-CN" altLang="en-US">
                <a:solidFill>
                  <a:schemeClr val="bg1"/>
                </a:solidFill>
              </a:rPr>
              <a:t>解耦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利用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K8s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daocloud </a:t>
            </a: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 altLang="zh-CN">
                <a:solidFill>
                  <a:schemeClr val="bg1"/>
                </a:solidFill>
              </a:rPr>
              <a:t> k8s 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zh-CN" altLang="en-US">
                <a:solidFill>
                  <a:schemeClr val="bg1"/>
                </a:solidFill>
              </a:rPr>
              <a:t>贡献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lang="en-US" altLang="zh-CN" dirty="0"/>
              <a:t>Kubernetes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418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管理</a:t>
            </a:r>
            <a:r>
              <a:rPr lang="en-US" altLang="zh-CN">
                <a:solidFill>
                  <a:schemeClr val="bg1"/>
                </a:solidFill>
              </a:rPr>
              <a:t> / </a:t>
            </a:r>
            <a:r>
              <a:rPr lang="zh-CN" altLang="en-US">
                <a:solidFill>
                  <a:schemeClr val="bg1"/>
                </a:solidFill>
              </a:rPr>
              <a:t>算力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集群分离，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独立</a:t>
            </a:r>
            <a:r>
              <a:rPr lang="zh-CN" altLang="en-US">
                <a:solidFill>
                  <a:schemeClr val="bg1"/>
                </a:solidFill>
              </a:rPr>
              <a:t>接入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5940" y="2521585"/>
            <a:ext cx="33051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容器化平台与应用平台</a:t>
            </a:r>
            <a:r>
              <a:rPr lang="zh-CN" altLang="en-US">
                <a:solidFill>
                  <a:schemeClr val="bg1"/>
                </a:solidFill>
              </a:rPr>
              <a:t>解耦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利用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K8s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daocloud </a:t>
            </a: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 altLang="zh-CN">
                <a:solidFill>
                  <a:schemeClr val="bg1"/>
                </a:solidFill>
              </a:rPr>
              <a:t> k8s 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zh-CN" altLang="en-US">
                <a:solidFill>
                  <a:schemeClr val="bg1"/>
                </a:solidFill>
              </a:rPr>
              <a:t>贡献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lang="en-US" altLang="zh-CN" dirty="0"/>
              <a:t>vllm &amp; sglang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2720" y="2197735"/>
            <a:ext cx="7146925" cy="1290320"/>
          </a:xfrm>
        </p:spPr>
        <p:txBody>
          <a:bodyPr/>
          <a:lstStyle/>
          <a:p>
            <a:r>
              <a:rPr dirty="0">
                <a:cs typeface="+mn-ea"/>
                <a:sym typeface="+mn-lt"/>
              </a:rPr>
              <a:t>未来规划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43000" y="2069653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n w="12700"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Part</a:t>
            </a:r>
            <a:endParaRPr lang="en-GB" altLang="zh-CN" sz="4800" b="1" dirty="0">
              <a:ln w="12700">
                <a:solidFill>
                  <a:srgbClr val="4640E1"/>
                </a:solidFill>
              </a:ln>
              <a:solidFill>
                <a:schemeClr val="bg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29956" y="2069653"/>
            <a:ext cx="86106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accent1"/>
                </a:solidFill>
                <a:cs typeface="+mn-ea"/>
                <a:sym typeface="+mn-lt"/>
              </a:rPr>
              <a:t>04</a:t>
            </a:r>
            <a:endParaRPr kumimoji="1" lang="zh-CN" altLang="en-US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41833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Cover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ModelHub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HAMi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Knowy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dirty="0"/>
              <a:t>项目开源</a:t>
            </a:r>
            <a:r>
              <a:rPr kumimoji="1" dirty="0"/>
              <a:t>计划</a:t>
            </a:r>
            <a:endParaRPr kumimoj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5940" y="1555115"/>
            <a:ext cx="4183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baizeai/modelhub </a:t>
            </a:r>
            <a:r>
              <a:rPr lang="zh-CN" altLang="en-US">
                <a:solidFill>
                  <a:schemeClr val="bg1"/>
                </a:solidFill>
              </a:rPr>
              <a:t>【</a:t>
            </a:r>
            <a:r>
              <a:rPr lang="zh-CN" altLang="en-US">
                <a:solidFill>
                  <a:schemeClr val="bg1"/>
                </a:solidFill>
              </a:rPr>
              <a:t>已开源】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baizeai/KCover </a:t>
            </a:r>
            <a:r>
              <a:rPr lang="zh-CN" altLang="en-US">
                <a:solidFill>
                  <a:schemeClr val="bg1"/>
                </a:solidFill>
              </a:rPr>
              <a:t>【</a:t>
            </a:r>
            <a:r>
              <a:rPr lang="zh-CN" altLang="en-US">
                <a:solidFill>
                  <a:schemeClr val="bg1"/>
                </a:solidFill>
              </a:rPr>
              <a:t>已开源】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baizeai/knowy </a:t>
            </a:r>
            <a:r>
              <a:rPr lang="zh-CN" altLang="en-US">
                <a:solidFill>
                  <a:schemeClr val="bg1"/>
                </a:solidFill>
              </a:rPr>
              <a:t>【</a:t>
            </a:r>
            <a:r>
              <a:rPr lang="zh-CN" altLang="en-US">
                <a:solidFill>
                  <a:schemeClr val="bg1"/>
                </a:solidFill>
              </a:rPr>
              <a:t>推进中】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kumimoji="1" dirty="0"/>
              <a:t>项目开源</a:t>
            </a:r>
            <a:r>
              <a:rPr kumimoji="1" dirty="0"/>
              <a:t>计划</a:t>
            </a:r>
            <a:endParaRPr kumimoj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altLang="zh-CN" dirty="0">
                <a:latin typeface="+mn-lt"/>
                <a:ea typeface="+mn-ea"/>
                <a:cs typeface="+mn-ea"/>
                <a:sym typeface="+mn-lt"/>
              </a:rPr>
              <a:t>Thanks.</a:t>
            </a:r>
            <a:endParaRPr lang="en-GB" altLang="zh-CN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ISLIDE.DIAGRAM" val="#849133;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ISLIDE.THEME" val="https://www.islide.cc;"/>
</p:tagLst>
</file>

<file path=ppt/tags/tag20.xml><?xml version="1.0" encoding="utf-8"?>
<p:tagLst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3f3e0f00-c2ec-49b9-8b3e-8f2bdc042e41"/>
</p:tagLst>
</file>

<file path=ppt/theme/theme1.xml><?xml version="1.0" encoding="utf-8"?>
<a:theme xmlns:a="http://schemas.openxmlformats.org/drawingml/2006/main" name="Light">
  <a:themeElements>
    <a:clrScheme name="自定义 2">
      <a:dk1>
        <a:srgbClr val="000000"/>
      </a:dk1>
      <a:lt1>
        <a:srgbClr val="FFFFFF"/>
      </a:lt1>
      <a:dk2>
        <a:srgbClr val="5D8AB3"/>
      </a:dk2>
      <a:lt2>
        <a:srgbClr val="F0F0F0"/>
      </a:lt2>
      <a:accent1>
        <a:srgbClr val="2192FF"/>
      </a:accent1>
      <a:accent2>
        <a:srgbClr val="0FB9EB"/>
      </a:accent2>
      <a:accent3>
        <a:srgbClr val="3EC06E"/>
      </a:accent3>
      <a:accent4>
        <a:srgbClr val="4E4E4E"/>
      </a:accent4>
      <a:accent5>
        <a:srgbClr val="B5D833"/>
      </a:accent5>
      <a:accent6>
        <a:srgbClr val="668CFD"/>
      </a:accent6>
      <a:hlink>
        <a:srgbClr val="199AEE"/>
      </a:hlink>
      <a:folHlink>
        <a:srgbClr val="BFBFBF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1656</Words>
  <Application>WPS 表格</Application>
  <PresentationFormat>宽屏</PresentationFormat>
  <Paragraphs>215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等线</vt:lpstr>
      <vt:lpstr>汉仪中等线KW</vt:lpstr>
      <vt:lpstr>Roboto Mono for Powerline Bold</vt:lpstr>
      <vt:lpstr>苹方-简</vt:lpstr>
      <vt:lpstr>汉仪书宋二KW</vt:lpstr>
      <vt:lpstr>Light</vt:lpstr>
      <vt:lpstr>从开源到商业化 云原生架构下大模型的大规模推理产品化</vt:lpstr>
      <vt:lpstr>PowerPoint 演示文稿</vt:lpstr>
      <vt:lpstr>业务背景和挑战</vt:lpstr>
      <vt:lpstr>产品销售形态</vt:lpstr>
      <vt:lpstr>大模型推理的“三高”问题 - MaaS</vt:lpstr>
      <vt:lpstr>大模型推理的“三高”问题 - 模型部署</vt:lpstr>
      <vt:lpstr>算力资源接入方式</vt:lpstr>
      <vt:lpstr>算力接入方式 - 统一管控平台</vt:lpstr>
      <vt:lpstr>算力接入方式 - 自持算力</vt:lpstr>
      <vt:lpstr>算力接入方式 - 三方接入</vt:lpstr>
      <vt:lpstr>高成本问题</vt:lpstr>
      <vt:lpstr>高复杂性（模型/框架异构）</vt:lpstr>
      <vt:lpstr>高延迟（用户容忍度&lt;2s）</vt:lpstr>
      <vt:lpstr>云原生化的 SaaS 平台介绍</vt:lpstr>
      <vt:lpstr>统一的模型广场</vt:lpstr>
      <vt:lpstr>OpenAPI 调用 （监控 OpenAI 接口风格）</vt:lpstr>
      <vt:lpstr>核心依赖 - 统一的 AI 网关</vt:lpstr>
      <vt:lpstr>开源技术的力量 （AI/LLM）</vt:lpstr>
      <vt:lpstr>Kubernetes</vt:lpstr>
      <vt:lpstr>vllm &amp; sglang</vt:lpstr>
      <vt:lpstr>未来规划</vt:lpstr>
      <vt:lpstr>项目开源计划</vt:lpstr>
      <vt:lpstr>项目开源计划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iSlide</dc:creator>
  <cp:lastModifiedBy>船长</cp:lastModifiedBy>
  <cp:revision>131</cp:revision>
  <cp:lastPrinted>2025-11-19T05:36:24Z</cp:lastPrinted>
  <dcterms:created xsi:type="dcterms:W3CDTF">2025-11-19T05:36:24Z</dcterms:created>
  <dcterms:modified xsi:type="dcterms:W3CDTF">2025-11-19T05:36:24Z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3f3e0f00-c2ec-49b9-8b3e-8f2bdc042e41</vt:lpwstr>
  </property>
  <property fmtid="{D5CDD505-2E9C-101B-9397-08002B2CF9AE}" pid="3" name="ContentTypeId">
    <vt:lpwstr>0x010100D1443A8EF62DE444B1FF07917E22EF72</vt:lpwstr>
  </property>
  <property fmtid="{D5CDD505-2E9C-101B-9397-08002B2CF9AE}" pid="4" name="ICV">
    <vt:lpwstr>56CC2718A42AF3EF41B7D3677AF8FCEF_43</vt:lpwstr>
  </property>
  <property fmtid="{D5CDD505-2E9C-101B-9397-08002B2CF9AE}" pid="5" name="KSOProductBuildVer">
    <vt:lpwstr>2052-12.1.23540.23540</vt:lpwstr>
  </property>
</Properties>
</file>